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令和8年度（2026年）コンプライアンス＆情報セキュリティ教育（初回）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/>
              <a:t>〜プロとして知っておくべき共通言語と、明日からの行動〜</a:t>
            </a:r>
          </a:p>
          <a:p/>
          <a:p>
            <a:r>
              <a:rPr sz="1600"/>
              <a:t>重点：個人情報保護 / 生成AI / 報告連絡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コンプライアンスの3層構造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① 法令（法律・省令・条例等）：違反すると法的責任が生じ得る</a:t>
            </a:r>
          </a:p>
          <a:p>
            <a:pPr>
              <a:defRPr sz="2000"/>
            </a:pPr>
            <a:r>
              <a:t>② 社内規程：就業規則・情報セキュリティ規程等の社内ルール</a:t>
            </a:r>
          </a:p>
          <a:p>
            <a:pPr>
              <a:defRPr sz="2000"/>
            </a:pPr>
            <a:r>
              <a:t>③ 社会的規範：倫理・モラル・説明責任</a:t>
            </a:r>
          </a:p>
          <a:p>
            <a:pPr>
              <a:defRPr sz="2000"/>
            </a:pPr>
            <a:r>
              <a:t>実務では『合法でも不適切』な行為も信用失墜につながるため注意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ガバナンスとコンプライアンスの関係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ガバナンス：組織が健全に運営されるための仕組み（主語：組織）</a:t>
            </a:r>
          </a:p>
          <a:p>
            <a:pPr>
              <a:defRPr sz="2000"/>
            </a:pPr>
            <a:r>
              <a:t>コンプライアンス：仕組みに沿って適正に行動すること（主語：個人）</a:t>
            </a:r>
          </a:p>
          <a:p>
            <a:pPr>
              <a:defRPr sz="2000"/>
            </a:pPr>
            <a:r>
              <a:t>関係性：『仕組み』と『行動』の両輪でリスクを低減する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IT現場での主要テーマ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個人情報保護・不正アクセス防止・著作権・労務・インサイダー対策</a:t>
            </a:r>
          </a:p>
          <a:p>
            <a:pPr>
              <a:defRPr sz="2000"/>
            </a:pPr>
            <a:r>
              <a:t>クラウド設定ミス、権限管理不備、生成AIへの入力ミスは事故要因</a:t>
            </a:r>
          </a:p>
          <a:p>
            <a:pPr>
              <a:defRPr sz="2000"/>
            </a:pPr>
            <a:r>
              <a:t>本研修では『個人情報』『生成AI』を優先テーマとして扱う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個人情報保護：基本用語の整理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個人情報：特定の個人を識別できる情報</a:t>
            </a:r>
          </a:p>
          <a:p>
            <a:pPr>
              <a:defRPr sz="2000"/>
            </a:pPr>
            <a:r>
              <a:t>個人データ：検索可能な形で体系化された個人情報</a:t>
            </a:r>
          </a:p>
          <a:p>
            <a:pPr>
              <a:defRPr sz="2000"/>
            </a:pPr>
            <a:r>
              <a:t>保有個人データ：開示・訂正等の権限を事業者が持つ個人データ</a:t>
            </a:r>
          </a:p>
          <a:p>
            <a:pPr>
              <a:defRPr sz="2000"/>
            </a:pPr>
            <a:r>
              <a:t>漏えい等が疑われる場合は、法令と社内手順に沿って速やかに報告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2026年時点での実務上の注意点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AI活用・プロファイリングは利用目的と同意範囲を厳密に確認</a:t>
            </a:r>
          </a:p>
          <a:p>
            <a:pPr>
              <a:defRPr sz="2000"/>
            </a:pPr>
            <a:r>
              <a:t>顔・指紋・音声等の生体情報は要配慮データとして厳格管理</a:t>
            </a:r>
          </a:p>
          <a:p>
            <a:pPr>
              <a:defRPr sz="2000"/>
            </a:pPr>
            <a:r>
              <a:t>クラウド公開設定の誤りは『漏えいのおそれ』として初動報告対象</a:t>
            </a:r>
          </a:p>
          <a:p>
            <a:pPr>
              <a:defRPr sz="2000"/>
            </a:pPr>
            <a:r>
              <a:t>※具体的要件は個人情報保護委員会等の最新公表資料を確認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明日からの3アクション（個人情報）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目的外利用をしない（勝手な二次利用を止める）</a:t>
            </a:r>
          </a:p>
          <a:p>
            <a:pPr>
              <a:defRPr sz="2000"/>
            </a:pPr>
            <a:r>
              <a:t>2) テストに実データを使わない（マスキング・ダミー化）</a:t>
            </a:r>
          </a:p>
          <a:p>
            <a:pPr>
              <a:defRPr sz="2000"/>
            </a:pPr>
            <a:r>
              <a:t>3) 設定ミスや誤送信の疑いは即時報告（目安：1分以内に一次報告）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生成AI利用のOK/NG境界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NG：個人情報、未公開情報、機密ソースコード、秘密情報</a:t>
            </a:r>
          </a:p>
          <a:p>
            <a:pPr>
              <a:defRPr sz="2000"/>
            </a:pPr>
            <a:r>
              <a:t>条件付きOK：匿名化・要約化済みデータ（社内ルールに従う）</a:t>
            </a:r>
          </a:p>
          <a:p>
            <a:pPr>
              <a:defRPr sz="2000"/>
            </a:pPr>
            <a:r>
              <a:t>OK：一般公開情報、公開仕様、一般的な技術質問</a:t>
            </a:r>
          </a:p>
          <a:p>
            <a:pPr>
              <a:defRPr sz="2000"/>
            </a:pPr>
            <a:r>
              <a:t>原則：入力前に『外部公開されても問題ないか』を確認する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ケーススタディからの学び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生成AIへの機密入力は漏えい事故・信用毀損・懲戒の原因になり得る</a:t>
            </a:r>
          </a:p>
          <a:p>
            <a:pPr>
              <a:defRPr sz="2000"/>
            </a:pPr>
            <a:r>
              <a:t>無断の個人情報入力は法令違反・契約違反・対外紛争のリスク</a:t>
            </a:r>
          </a:p>
          <a:p>
            <a:pPr>
              <a:defRPr sz="2000"/>
            </a:pPr>
            <a:r>
              <a:t>教訓：技術利用前に『データ分類』『利用可否』『承認経路』を確認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会社の体制整備（ガバナンス）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規程類（コンプライアンス・情報セキュリティ）を継続更新</a:t>
            </a:r>
          </a:p>
          <a:p>
            <a:pPr>
              <a:defRPr sz="2000"/>
            </a:pPr>
            <a:r>
              <a:t>台帳管理（アカウント・資産）は事故時の追跡性と説明責任を担保</a:t>
            </a:r>
          </a:p>
          <a:p>
            <a:pPr>
              <a:defRPr sz="2000"/>
            </a:pPr>
            <a:r>
              <a:t>ルールは抑止ではなく『社員と会社を守る防具』として運用する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36協定の正しい理解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36協定は、時間外・休日労働に関する労使協定（許可制ではない）</a:t>
            </a:r>
          </a:p>
          <a:p>
            <a:pPr>
              <a:defRPr sz="2000"/>
            </a:pPr>
            <a:r>
              <a:t>法定上限の遵守と健康確保のため、勤怠の正確な申告が必須</a:t>
            </a:r>
          </a:p>
          <a:p>
            <a:pPr>
              <a:defRPr sz="2000"/>
            </a:pPr>
            <a:r>
              <a:t>社内公開場所：［社内フォルダの実パスを記入］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報告・連絡の原則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重要事実の報告は雇用契約上の基本義務</a:t>
            </a:r>
          </a:p>
          <a:p>
            <a:pPr>
              <a:defRPr sz="2000"/>
            </a:pPr>
            <a:r>
              <a:t>報告対象は『成果・変化』と『ミス・リスク』の両方</a:t>
            </a:r>
          </a:p>
          <a:p>
            <a:pPr>
              <a:defRPr sz="2000"/>
            </a:pPr>
            <a:r>
              <a:t>早期報告で被害最小化・再発防止・会社による組織対応が可能になる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報告が自分を守る理由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ミスの隠蔽は『過失』を『重大な規律違反』へ悪化させる</a:t>
            </a:r>
          </a:p>
          <a:p>
            <a:pPr>
              <a:defRPr sz="2000"/>
            </a:pPr>
            <a:r>
              <a:t>適時報告は事実関係の保全と適切な法務・顧客対応につながる</a:t>
            </a:r>
          </a:p>
          <a:p>
            <a:pPr>
              <a:defRPr sz="2000"/>
            </a:pPr>
            <a:r>
              <a:t>成果報告は評価・単価交渉・待遇改善の根拠データになる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未報告・隠蔽のリスク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懲戒処分や信用失墜の可能性</a:t>
            </a:r>
          </a:p>
          <a:p>
            <a:pPr>
              <a:defRPr sz="2000"/>
            </a:pPr>
            <a:r>
              <a:t>対応遅延により損害が拡大した場合は法的紛争リスクが増大</a:t>
            </a:r>
          </a:p>
          <a:p>
            <a:pPr>
              <a:defRPr sz="2000"/>
            </a:pPr>
            <a:r>
              <a:t>結論：迷ったら即相談。自己判断で抱え込まない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まとめ：明日からの行動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(1) データを扱う前に分類・目的・同意範囲を確認</a:t>
            </a:r>
          </a:p>
          <a:p>
            <a:pPr>
              <a:defRPr sz="2000"/>
            </a:pPr>
            <a:r>
              <a:t>(2) 生成AI入力前に機密性と匿名化状態を確認</a:t>
            </a:r>
          </a:p>
          <a:p>
            <a:pPr>
              <a:defRPr sz="2000"/>
            </a:pPr>
            <a:r>
              <a:t>(3) 事故の兆候は一次報告→エスカレーション→記録化</a:t>
            </a:r>
          </a:p>
          <a:p>
            <a:pPr>
              <a:defRPr sz="2000"/>
            </a:pPr>
            <a:r>
              <a:t>(4) 成果もリスクも『見える化』して、強い現場を作る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